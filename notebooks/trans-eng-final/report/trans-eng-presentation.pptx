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ENGINEERING  ·  FINAL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Choice and Policy Welfare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Jabodetabek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MNL → Nested Logit → Mixed Logit Comparison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Hiroshima University · Transportation Engineering AY2026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L15 · June 3,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Jabodetabek mode choice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301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6301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30M+ population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80360"/>
            <a:ext cx="3172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million daily commuters. Car/motorcycle-dominated mode split despite massive transit investment.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6301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691640"/>
            <a:ext cx="36301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87452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214884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inequality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90288" y="269748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880360"/>
            <a:ext cx="3172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expansion is spatially uneven: J1b (Parung) and J3b (Gading Serpong) have no formal transit at all.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74736" y="1691640"/>
            <a:ext cx="36301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1691640"/>
            <a:ext cx="36301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03336" y="187452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03336" y="214884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question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403336" y="269748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3336" y="2880360"/>
            <a:ext cx="3172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policies maximize welfare? How are gains distributed across zones and income segments?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46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6-mode choice set → MNL / NL / MXL → AIC / LR / Wald selection → logsum ΔCS → 8 policy scenarios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STUDY AREA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zones, six modes, synthetic population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(7)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691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J1a–J5, Bodetabek → Jakarta CBD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(6)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21945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Motorcycle, KRL, TransJakarta, RoyalTrans, MRT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697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{KRL, MRT, TJ, Royal} · Private {Car, Moto}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200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synthetic persons; 3 income segments (BPS Susenas 2023)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LOS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703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r5py GTFS routing (AM peak 07:00–09:00, fallback 180 min)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4206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free-flow speeds (toll 80, arterial 40, local 25 km/h)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709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GEV closed-form choice generation, μ=25 scale normalization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calibration: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β_time,m derived from Ilahi et al. (2021) Table 11 mode-specific VTTS via β_time = β_cost · VTTS / 60,000. β_cost = −1.42. VOT preserved exactly under μ=25 scale normalization (Train 2009 §3.7).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MNL ESTIMATION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MNL: specification &amp; IIA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Vₘₙ = ASCₘ + β_time,m · Tₖₙ + β_cost · Cₖₙ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parameters  ·  L-BFGS-B MLE  ·  KRL = reference alternative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12/12 within 2 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10,121.65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743200"/>
            <a:ext cx="56692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47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743200"/>
            <a:ext cx="5669280" cy="73152"/>
          </a:xfrm>
          <a:prstGeom prst="rect">
            <a:avLst/>
          </a:prstGeom>
          <a:solidFill>
            <a:srgbClr val="C2474C"/>
          </a:solidFill>
          <a:ln w="12700">
            <a:solidFill>
              <a:srgbClr val="C247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IIA IS VIOLATED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200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Red-bus/blue-bus: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KRL as "KRL Express" → transit share nearly doubles (11.7% → 21.8%)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cross-elasticity: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within-nest substitution 1.67× cross-nest. MNL forces equal proportional substitution.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 fails to capture the correlation among transit alternatives → need Nested Logit.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NESTED LOGIT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NL: λ̂ = 0.763 — nesting confirmed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Pₙ(m) = Pₙ(m|k) · Pₙ(k),    Pₙ(k) = exp(λ Iₖₙ) / Σₗ exp(λ Iₗₙ)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nests  ·  13 parameters  ·  FIML via L-BFGS-B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0.763 ± 0.068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6858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27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3227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[0.627, 0.900] — excludes 1.0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685800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58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test vs MNL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758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8.57, df = 1, p = 0.003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6858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288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13/13 within 2 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18888"/>
            <a:ext cx="685800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18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4818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10,115.08 / 10,199.80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2697480"/>
            <a:ext cx="384048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1 rejected at p &lt; 0.01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01000" y="37033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modes share unobserved attributes (crowding, schedule coordination, station environment) that make them closer substitutes than IIA allows.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MIXED LOGIT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MXL: σ̂ = 0.010 — no taste heterogeneity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β_cost ~ N(μ, σ)  ·  R = 100 Halton draws (base=2)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σ_cost = 0 — any heterogeneity beyond NL nest correlation?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−0.037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0.091,  p = 0.763  →  fail to reject H₀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606040"/>
            <a:ext cx="52120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06040"/>
            <a:ext cx="73152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69748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Mixed-DGP (σ_true=0.02) → Wald p ≈ 0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taste heterogeneity signal. MXL LL (−5,048.79) ≈ MNL LL (−5,048.83). Adding random β_cost gains 0.03 LL units — negligible.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captures the departure from IIA that matters.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MODEL SELECTION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wins on every criterion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1498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1014984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10149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LL(β̂)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−5,048.83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−5,044.54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−5,048.79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014984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10,121.65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10,115.08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10,123.59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10149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10,199.86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10,199.80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381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10,208.31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10149840" cy="457200"/>
          </a:xfrm>
          <a:prstGeom prst="rect">
            <a:avLst/>
          </a:prstGeom>
          <a:solidFill>
            <a:srgbClr val="F7F5E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vs MNL (p)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10149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σ=0 (p)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4617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3816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selected: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ΔAIC = −6.6 vs MNL, −8.5 vs MXL. LR rejects IIA at p&lt;0.01. Wald fails to reject σ=0. Parsimonious correct specification → best_model.json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WELFARE MEASUREMENT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Logsum consumer surplus from NL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EMUₙ = ln Σₖ exp(λ · Iₖₙ),    Iₖₙ = ln Σⱼ∈ₖ exp(Vⱼₙ / λ)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CSₙ = EMUₙ / |β_cost|,    ΔCSₙ = (EMU^policy − EMU^baseline) / |β_cost|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ΔW_annual = Σₙ ΔCSₙ × 250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−53.65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IDR/trip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4290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429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−115.30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044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IDR/trip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429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−9.48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IDR/trip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342900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3429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β_cost (NL)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−0.077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8972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= 0.097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CIs use truncated-Normal draws (upper bound = −0.3·|β̂|) to bound welfare estimates.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POLICY SCENARIOS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scenarios — aggregate ΔCS comparison</a:t>
            </a:r>
            <a:endParaRPr lang="en-US" sz="2800" dirty="0"/>
          </a:p>
        </p:txBody>
      </p:sp>
      <p:pic>
        <p:nvPicPr>
          <p:cNvPr id="5" name="Image 0" descr="/Users/Dhanes/Documents/portfolio/jabodetabek-transity-equity-mapper/notebooks/trans-eng-final/figures/fig04_scenario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by ΔCS: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(KRL freq, +3.76) &gt; D (TJ→J1b, +3.29) &gt; H (RT fare, +1.99).  </a:t>
            </a:r>
            <a:pPr indent="0" marL="0">
              <a:buNone/>
            </a:pPr>
            <a:r>
              <a:rPr lang="en-US" sz="1300" b="1" dirty="0">
                <a:solidFill>
                  <a:srgbClr val="F2D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Regressive: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(toll, −0.10, 0 winners)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DISTRIBUTIONAL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wins and who is left out?</a:t>
            </a:r>
            <a:endParaRPr lang="en-US" sz="2800" dirty="0"/>
          </a:p>
        </p:txBody>
      </p:sp>
      <p:pic>
        <p:nvPicPr>
          <p:cNvPr id="5" name="Image 0" descr="/Users/Dhanes/Documents/portfolio/jabodetabek-transity-equity-mapper/notebooks/trans-eng-final/figures/fig04_dc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858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783080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1783080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01000" y="2148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aggregate welfare but J1b/J3b receive zero — no rail access.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108960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310896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0100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gains in transit-orphan J1b (+28.43 Th IDR). TJ draws from motorcycles (−10.1 pp), not other transit.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4434840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0" y="4434840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F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01000" y="4800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both J3a (+9.66) and J3b (+2.49) through TJ BSD→CBD route restructuring.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MODE SHIFTS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new riders come from?</a:t>
            </a:r>
            <a:endParaRPr lang="en-US" sz="2800" dirty="0"/>
          </a:p>
        </p:txBody>
      </p:sp>
      <p:pic>
        <p:nvPicPr>
          <p:cNvPr id="5" name="Image 0" descr="/Users/Dhanes/Documents/portfolio/jabodetabek-transity-equity-mapper/notebooks/trans-eng-final/figures/fig04_mode_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transit (TJ at Rp 3,500) draws primarily from motorcycles, not from other transit modes — expanding the pie rather than reshuffling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CONCLUSIONS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is the appropriate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λ̂ = 0.763, LR p = 0.003, MXL adds no signal (Wald p = 0.763)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971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aggregate gain: Sc 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KRL frequency improvement: +3.76 Th IDR/trip, +6,580 Bn IDR/year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069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pro-equity: Sc 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4805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 extension to J1b: +3.29 Th IDR/trip — concentrated in the most underserved zone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1663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quality + expansion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improvements alone leave transit orphans behind. Combine with network expansion for equitable gains.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47472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scale parameter μ = 25?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identification theorem (Train 2009 §3.7):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utility: U = V + ε, where ε ~ Gumbel(0, μ)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Normalized: Ũ = Ṽ + ε̃, where ε̃ ~ Gumbel(0,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coefficients compressed: β̃ = β / 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 = β_time / β_cost is preserved — μ cancels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86400" cy="2103120"/>
          </a:xfrm>
          <a:prstGeom prst="rect">
            <a:avLst/>
          </a:prstGeom>
          <a:solidFill>
            <a:srgbClr val="FFF5F5"/>
          </a:solidFill>
          <a:ln w="19050">
            <a:solidFill>
              <a:srgbClr val="C247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977640"/>
            <a:ext cx="5486400" cy="91440"/>
          </a:xfrm>
          <a:prstGeom prst="rect">
            <a:avLst/>
          </a:prstGeom>
          <a:solidFill>
            <a:srgbClr val="C2474C"/>
          </a:solidFill>
          <a:ln w="12700">
            <a:solidFill>
              <a:srgbClr val="C247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μ = 25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gaps too large → choice becomes deterministic (99%+ choosing one mode). No meaningful choice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977640"/>
            <a:ext cx="5486400" cy="2103120"/>
          </a:xfrm>
          <a:prstGeom prst="rect">
            <a:avLst/>
          </a:prstGeom>
          <a:solidFill>
            <a:srgbClr val="F7F5E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977640"/>
            <a:ext cx="54864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μ = 25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4663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estimates have larger SEs (the tradeoff), but Gumbel noise produces realistic choice distributions: Moto 36.7%, TJ 34.0%, KRL 17.8%.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drop ride-hailing &amp; LRT?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234440"/>
          </a:xfrm>
          <a:prstGeom prst="rect">
            <a:avLst/>
          </a:prstGeom>
          <a:solidFill>
            <a:srgbClr val="C2474C"/>
          </a:solidFill>
          <a:ln w="12700">
            <a:solidFill>
              <a:srgbClr val="C247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2WRH (GoRide/GrabBike)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Ilahi β_time_2wrh = −5.10 estimated on short urban trips → near-zero share on 30–105 km commutes. Parameter non-transferability (Wardman et al. 2016).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46120"/>
            <a:ext cx="73152" cy="1234440"/>
          </a:xfrm>
          <a:prstGeom prst="rect">
            <a:avLst/>
          </a:prstGeom>
          <a:solidFill>
            <a:srgbClr val="C2474C"/>
          </a:solidFill>
          <a:ln w="12700">
            <a:solidFill>
              <a:srgbClr val="C247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4WRH (GoCar/GrabCar)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calibration required &gt;+40 utility units to match BPS aggregate share — outside defensible range.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663440"/>
            <a:ext cx="73152" cy="1234440"/>
          </a:xfrm>
          <a:prstGeom prst="rect">
            <a:avLst/>
          </a:prstGeom>
          <a:solidFill>
            <a:srgbClr val="C2474C"/>
          </a:solidFill>
          <a:ln w="12700">
            <a:solidFill>
              <a:srgbClr val="C247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LRT Jabodebek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only 1 of 7 zones (J2). Single-zone presence → ASC absorbs zone unobservables, not mode preference.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Nine-mode DGP tested → six-mode adopted. Documented in report §2.2, §6.3.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D8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Dhaneswaramandrasa  ·  Transportation Engineering  ·  Hiroshima University AY2026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 Choice and Policy Welfare in Jabodetabek</dc:title>
  <dc:subject>PptxGenJS Presentation</dc:subject>
  <dc:creator>Dhaneswara Mandrasa Triweko</dc:creator>
  <cp:lastModifiedBy>Dhaneswara Mandrasa Triweko</cp:lastModifiedBy>
  <cp:revision>1</cp:revision>
  <dcterms:created xsi:type="dcterms:W3CDTF">2026-05-16T03:05:23Z</dcterms:created>
  <dcterms:modified xsi:type="dcterms:W3CDTF">2026-05-16T03:05:23Z</dcterms:modified>
</cp:coreProperties>
</file>